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4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49A2D-E506-7DFA-C6DB-E2CE21AB8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806E6-D77D-D945-C7C1-9EC38E0EEE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63EB7-AD2F-9D61-F8B8-EED4AF9FC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9A8A3-977A-9C67-C145-08C074A06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8429B-146D-9345-C4BD-FF4138089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4087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926B0-8153-F6F1-21DA-F543CB85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8F1D5-4CCD-AF8C-F0C5-16F098918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ADE2B-646C-7EB2-F347-5345F7E4A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8972D-DE9C-5C81-AB88-B34F0BF67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5A89DF-ECCD-40EA-299A-E557FEA28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06656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88574-3A42-EC3F-6105-923C10B9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D4074E-968F-41B7-1E5E-8E899B120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0AA8-31AE-F4B0-E877-1A086826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F7E50-81DE-614E-8D87-4F68D2C76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312B1-B6A8-953C-458A-D7CE029F8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4508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D8331-8835-58CB-EDCE-D8F494846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3B0E0-E5AA-9B89-3ACD-840F731D77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353E20-A83F-E9D7-35A0-C708165342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AC0AC-CEFF-F061-FC8C-FFD97D356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79743-1AA1-9E9C-4449-573B60AF3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E1F00-976A-7FE9-8A20-FC0BC5D05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388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04DDC-EDAF-71AA-6465-18B686E94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D862F-0A29-A480-76C4-0DB7ABD78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F7A334-8BF7-9F7D-06F0-A222D7E2A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3EA1A2-5118-1170-1ABF-5DABF44D4E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72979F-5FC6-57D1-8A58-2F7BE06295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1704B7-AD3F-4AE9-EC06-A496CB184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3EC0C4-B394-3D95-1DD4-6AF9654EB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A048D0-8A45-D9B8-AA1B-60A282D21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0970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BA012-93AC-8A15-35B7-421F6660A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D05B93-1DB0-3E79-84D4-A981889F3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403DA9-4552-6919-50F8-639477E3E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745CF8-29A7-679B-1553-F235D34A9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63738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E1EDD7-A90F-7207-54F3-FB12E7FD4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A709A1-1603-E7B2-2886-937EAEE43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6A59A-A4CA-69FA-82B0-2B9BD8A2A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9244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4B18-31E4-D103-F9F1-6D07B2C90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093C9-BF28-BA07-7034-0E6070710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9C67BB-9A89-AE9F-D723-6665E8A31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3B62D-E133-14D9-5A31-44508BCE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3496A4-458D-5243-2BF6-A662D59E2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0C14D9-8C31-D837-9E6A-1A5B9E2AC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39773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5B899-4B3E-0364-A64F-E80C4CBBE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556ACC-1C02-77B8-CD4A-51800FC7C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876D6B-B258-A06F-0FC1-7076314268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A9E56-1BA8-98FA-9A00-D432EA59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B2505-AFD9-1B27-A2D0-588F1BCE0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CC983F-A552-B9AB-3ACE-F0E9FA685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371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8E71C-0351-E2BD-9726-61FE2F6FE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9BBF5F-111E-C10B-5A7B-322E6ECF1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A88D0-8AA9-7C65-12B5-2633D2088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DD8D7-4AFB-0CDD-78F5-04D93A448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46A645-DBF9-A037-5BA5-A13DD8410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915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A79C24-CACA-479C-69D8-3E05CD7913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2B6BC-7D57-A53F-1217-AE4F39FD7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5194E-D012-48ED-A512-9C1FEEBE4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280FC6-DF03-BF56-C8D0-36F03ACBF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D064-7CE9-5FCB-7194-4BF16E6BF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0215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83C4DC-3803-5D45-CB3C-657C91286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69458-9DC0-DF05-1DC3-DAE322386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B5130-30EE-51CC-5592-B280D4983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D22327-445B-45B6-83F5-C69A7D2AFF64}" type="datetimeFigureOut">
              <a:rPr lang="en-AU" smtClean="0"/>
              <a:t>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F712E-FB8E-7CC1-9597-82EC32C7CF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B9220-D2AA-2886-A2F6-72CED73190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DC9A92-3CE4-EFB9-6E94-0DE343B52F5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52275" y="63500"/>
            <a:ext cx="7302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U" sz="1200">
                <a:solidFill>
                  <a:srgbClr val="A8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</a:t>
            </a:r>
          </a:p>
        </p:txBody>
      </p:sp>
    </p:spTree>
    <p:extLst>
      <p:ext uri="{BB962C8B-B14F-4D97-AF65-F5344CB8AC3E}">
        <p14:creationId xmlns:p14="http://schemas.microsoft.com/office/powerpoint/2010/main" val="1466735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>
            <a:extLst>
              <a:ext uri="{FF2B5EF4-FFF2-40B4-BE49-F238E27FC236}">
                <a16:creationId xmlns:a16="http://schemas.microsoft.com/office/drawing/2014/main" id="{2C5D5899-2C19-3F42-22A8-81312D4AC5AC}"/>
              </a:ext>
            </a:extLst>
          </p:cNvPr>
          <p:cNvGrpSpPr/>
          <p:nvPr/>
        </p:nvGrpSpPr>
        <p:grpSpPr>
          <a:xfrm>
            <a:off x="820521" y="555526"/>
            <a:ext cx="10468168" cy="5518462"/>
            <a:chOff x="820521" y="555526"/>
            <a:chExt cx="10468168" cy="5518462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D57B207D-782F-B065-D1D7-4CECC6F0DDF0}"/>
                </a:ext>
              </a:extLst>
            </p:cNvPr>
            <p:cNvSpPr/>
            <p:nvPr/>
          </p:nvSpPr>
          <p:spPr>
            <a:xfrm>
              <a:off x="7463337" y="3859293"/>
              <a:ext cx="1800000" cy="629920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4A5DE540-8A77-5D72-48CA-5FFDCAB2EEB0}"/>
                </a:ext>
              </a:extLst>
            </p:cNvPr>
            <p:cNvSpPr/>
            <p:nvPr/>
          </p:nvSpPr>
          <p:spPr>
            <a:xfrm>
              <a:off x="7341450" y="3989587"/>
              <a:ext cx="1800000" cy="629920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0A05FB39-F082-FBC1-E28F-BE0ACE702ABA}"/>
                </a:ext>
              </a:extLst>
            </p:cNvPr>
            <p:cNvSpPr/>
            <p:nvPr/>
          </p:nvSpPr>
          <p:spPr>
            <a:xfrm>
              <a:off x="3225801" y="555526"/>
              <a:ext cx="1800000" cy="629920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Trait and Indicators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E496291-901E-E3B7-10B6-24565C29B482}"/>
                </a:ext>
              </a:extLst>
            </p:cNvPr>
            <p:cNvSpPr/>
            <p:nvPr/>
          </p:nvSpPr>
          <p:spPr>
            <a:xfrm>
              <a:off x="3225802" y="2101427"/>
              <a:ext cx="1800000" cy="629920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Thematic subgroups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BE6EDDC-58F8-33EE-49FB-7B3781EB59C9}"/>
                </a:ext>
              </a:extLst>
            </p:cNvPr>
            <p:cNvSpPr/>
            <p:nvPr/>
          </p:nvSpPr>
          <p:spPr>
            <a:xfrm>
              <a:off x="3225802" y="3110654"/>
              <a:ext cx="1800000" cy="629920"/>
            </a:xfrm>
            <a:prstGeom prst="round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Sub-indices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400AF0A-4BD0-E5DD-E726-E2B54F813C4F}"/>
                </a:ext>
              </a:extLst>
            </p:cNvPr>
            <p:cNvSpPr/>
            <p:nvPr/>
          </p:nvSpPr>
          <p:spPr>
            <a:xfrm>
              <a:off x="3225802" y="4119881"/>
              <a:ext cx="1800000" cy="629920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Index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41456BD-1F86-8C13-0CF3-7179AD972D8B}"/>
                </a:ext>
              </a:extLst>
            </p:cNvPr>
            <p:cNvCxnSpPr>
              <a:stCxn id="3" idx="2"/>
              <a:endCxn id="4" idx="0"/>
            </p:cNvCxnSpPr>
            <p:nvPr/>
          </p:nvCxnSpPr>
          <p:spPr>
            <a:xfrm>
              <a:off x="4125801" y="1185446"/>
              <a:ext cx="1" cy="91598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3F720821-46C6-D156-A263-0C74F30F503C}"/>
                </a:ext>
              </a:extLst>
            </p:cNvPr>
            <p:cNvCxnSpPr>
              <a:cxnSpLocks/>
            </p:cNvCxnSpPr>
            <p:nvPr/>
          </p:nvCxnSpPr>
          <p:spPr>
            <a:xfrm>
              <a:off x="4146964" y="2731347"/>
              <a:ext cx="0" cy="37930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AAC2670-6464-BCBB-DA03-3D4482D0D469}"/>
                </a:ext>
              </a:extLst>
            </p:cNvPr>
            <p:cNvCxnSpPr>
              <a:cxnSpLocks/>
            </p:cNvCxnSpPr>
            <p:nvPr/>
          </p:nvCxnSpPr>
          <p:spPr>
            <a:xfrm>
              <a:off x="4146964" y="3740574"/>
              <a:ext cx="0" cy="37930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1D465BC-8AF2-251A-6BCE-83291A616E1A}"/>
                </a:ext>
              </a:extLst>
            </p:cNvPr>
            <p:cNvCxnSpPr>
              <a:cxnSpLocks/>
              <a:stCxn id="6" idx="3"/>
              <a:endCxn id="81" idx="1"/>
            </p:cNvCxnSpPr>
            <p:nvPr/>
          </p:nvCxnSpPr>
          <p:spPr>
            <a:xfrm>
              <a:off x="5025802" y="4434841"/>
              <a:ext cx="49319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C618302F-427A-136D-6249-652FE619BFE8}"/>
                </a:ext>
              </a:extLst>
            </p:cNvPr>
            <p:cNvSpPr/>
            <p:nvPr/>
          </p:nvSpPr>
          <p:spPr>
            <a:xfrm>
              <a:off x="7219563" y="4119881"/>
              <a:ext cx="1800000" cy="629920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Vulnerability</a:t>
              </a:r>
            </a:p>
            <a:p>
              <a:pPr algn="ctr"/>
              <a:r>
                <a:rPr lang="en-AU" dirty="0"/>
                <a:t>maps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77E8AA71-DE86-2EAE-ED15-F043363BB5FE}"/>
                </a:ext>
              </a:extLst>
            </p:cNvPr>
            <p:cNvSpPr/>
            <p:nvPr/>
          </p:nvSpPr>
          <p:spPr>
            <a:xfrm>
              <a:off x="7219563" y="5444068"/>
              <a:ext cx="1800000" cy="629920"/>
            </a:xfrm>
            <a:prstGeom prst="roundRect">
              <a:avLst/>
            </a:prstGeom>
            <a:solidFill>
              <a:schemeClr val="accent2">
                <a:lumMod val="50000"/>
              </a:schemeClr>
            </a:solidFill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Three-tier zoning map</a:t>
              </a: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A71F718C-D65E-6A0B-49CA-288C8DDF43F2}"/>
                </a:ext>
              </a:extLst>
            </p:cNvPr>
            <p:cNvCxnSpPr>
              <a:stCxn id="65" idx="2"/>
              <a:endCxn id="69" idx="0"/>
            </p:cNvCxnSpPr>
            <p:nvPr/>
          </p:nvCxnSpPr>
          <p:spPr>
            <a:xfrm>
              <a:off x="8119563" y="4749801"/>
              <a:ext cx="0" cy="69426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1A2E861-2EB7-0B48-5388-71D084D3536F}"/>
                </a:ext>
              </a:extLst>
            </p:cNvPr>
            <p:cNvSpPr txBox="1"/>
            <p:nvPr/>
          </p:nvSpPr>
          <p:spPr>
            <a:xfrm>
              <a:off x="2609206" y="673001"/>
              <a:ext cx="616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dirty="0"/>
                <a:t>Lv. 1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8F5EFB4-74FE-CDFC-7D61-E1A3309F9B6C}"/>
                </a:ext>
              </a:extLst>
            </p:cNvPr>
            <p:cNvSpPr txBox="1"/>
            <p:nvPr/>
          </p:nvSpPr>
          <p:spPr>
            <a:xfrm>
              <a:off x="2609222" y="2231721"/>
              <a:ext cx="616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dirty="0"/>
                <a:t>Lv. 2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9D1F3F38-7F0C-8DB3-0A53-DFF2C0806C58}"/>
                </a:ext>
              </a:extLst>
            </p:cNvPr>
            <p:cNvSpPr txBox="1"/>
            <p:nvPr/>
          </p:nvSpPr>
          <p:spPr>
            <a:xfrm>
              <a:off x="2609222" y="3235960"/>
              <a:ext cx="616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dirty="0"/>
                <a:t>Lv. 3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637D7D-415D-2470-C7A7-656570DFC9CA}"/>
                </a:ext>
              </a:extLst>
            </p:cNvPr>
            <p:cNvSpPr txBox="1"/>
            <p:nvPr/>
          </p:nvSpPr>
          <p:spPr>
            <a:xfrm>
              <a:off x="2609222" y="4250175"/>
              <a:ext cx="616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dirty="0"/>
                <a:t>Lv. 4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ECBA134-AE6E-0D56-EEA9-FD0A8EAD18B0}"/>
                </a:ext>
              </a:extLst>
            </p:cNvPr>
            <p:cNvSpPr txBox="1"/>
            <p:nvPr/>
          </p:nvSpPr>
          <p:spPr>
            <a:xfrm>
              <a:off x="4125801" y="1270113"/>
              <a:ext cx="1468159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sz="1400" dirty="0"/>
                <a:t>Treat (transform)</a:t>
              </a:r>
            </a:p>
            <a:p>
              <a:r>
                <a:rPr lang="en-AU" sz="1400" dirty="0"/>
                <a:t>Normalise</a:t>
              </a:r>
            </a:p>
            <a:p>
              <a:r>
                <a:rPr lang="en-AU" sz="1400" dirty="0"/>
                <a:t>Choose max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2146C1C-08A9-6FDD-DFEE-2B53D9F032A2}"/>
                </a:ext>
              </a:extLst>
            </p:cNvPr>
            <p:cNvSpPr txBox="1"/>
            <p:nvPr/>
          </p:nvSpPr>
          <p:spPr>
            <a:xfrm>
              <a:off x="4146964" y="2767111"/>
              <a:ext cx="9496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sz="1400" dirty="0"/>
                <a:t>Aggregate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B8BB55E-7F76-AC1E-6502-54F7714A92D4}"/>
                </a:ext>
              </a:extLst>
            </p:cNvPr>
            <p:cNvSpPr txBox="1"/>
            <p:nvPr/>
          </p:nvSpPr>
          <p:spPr>
            <a:xfrm>
              <a:off x="8205160" y="4835324"/>
              <a:ext cx="13989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sz="1400" dirty="0"/>
                <a:t>Choose max</a:t>
              </a:r>
            </a:p>
            <a:p>
              <a:r>
                <a:rPr lang="en-AU" sz="1400" dirty="0"/>
                <a:t>Apply threshold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5B8EC18-A320-2972-F3DF-4DDF7A79E82F}"/>
                </a:ext>
              </a:extLst>
            </p:cNvPr>
            <p:cNvSpPr txBox="1"/>
            <p:nvPr/>
          </p:nvSpPr>
          <p:spPr>
            <a:xfrm>
              <a:off x="5518994" y="3957787"/>
              <a:ext cx="120738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AU" sz="1400" dirty="0"/>
                <a:t>Species</a:t>
              </a:r>
            </a:p>
            <a:p>
              <a:pPr algn="ctr"/>
              <a:r>
                <a:rPr lang="en-AU" sz="1400" dirty="0"/>
                <a:t>Distribution</a:t>
              </a:r>
            </a:p>
            <a:p>
              <a:pPr algn="ctr"/>
              <a:r>
                <a:rPr lang="en-AU" sz="1400" dirty="0"/>
                <a:t>Model of </a:t>
              </a:r>
            </a:p>
            <a:p>
              <a:pPr algn="ctr"/>
              <a:r>
                <a:rPr lang="en-AU" sz="1400" dirty="0"/>
                <a:t>each species</a:t>
              </a:r>
            </a:p>
          </p:txBody>
        </p: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8475628E-EA13-97E1-BB6B-3A224C7DAE95}"/>
                </a:ext>
              </a:extLst>
            </p:cNvPr>
            <p:cNvCxnSpPr>
              <a:cxnSpLocks/>
              <a:stCxn id="81" idx="3"/>
              <a:endCxn id="65" idx="1"/>
            </p:cNvCxnSpPr>
            <p:nvPr/>
          </p:nvCxnSpPr>
          <p:spPr>
            <a:xfrm>
              <a:off x="6726376" y="4434841"/>
              <a:ext cx="49318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6B088D56-D739-3053-07B9-72C8F62D9FFF}"/>
                </a:ext>
              </a:extLst>
            </p:cNvPr>
            <p:cNvSpPr txBox="1"/>
            <p:nvPr/>
          </p:nvSpPr>
          <p:spPr>
            <a:xfrm>
              <a:off x="4146964" y="3777622"/>
              <a:ext cx="9496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sz="1400" dirty="0"/>
                <a:t>Aggregate</a:t>
              </a:r>
            </a:p>
          </p:txBody>
        </p:sp>
        <p:sp>
          <p:nvSpPr>
            <p:cNvPr id="92" name="Left Brace 91">
              <a:extLst>
                <a:ext uri="{FF2B5EF4-FFF2-40B4-BE49-F238E27FC236}">
                  <a16:creationId xmlns:a16="http://schemas.microsoft.com/office/drawing/2014/main" id="{E0E2AAED-18B6-C802-D578-99F0BFAEF8E7}"/>
                </a:ext>
              </a:extLst>
            </p:cNvPr>
            <p:cNvSpPr/>
            <p:nvPr/>
          </p:nvSpPr>
          <p:spPr>
            <a:xfrm>
              <a:off x="2289199" y="853440"/>
              <a:ext cx="320007" cy="3581401"/>
            </a:xfrm>
            <a:prstGeom prst="leftBrace">
              <a:avLst>
                <a:gd name="adj1" fmla="val 8333"/>
                <a:gd name="adj2" fmla="val 4665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716F1AA-F245-2C16-7464-8551175A0F5D}"/>
                </a:ext>
              </a:extLst>
            </p:cNvPr>
            <p:cNvSpPr txBox="1"/>
            <p:nvPr/>
          </p:nvSpPr>
          <p:spPr>
            <a:xfrm>
              <a:off x="9762245" y="4804173"/>
              <a:ext cx="15264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AU" dirty="0"/>
                <a:t>Spatial</a:t>
              </a:r>
            </a:p>
            <a:p>
              <a:pPr algn="ctr"/>
              <a:r>
                <a:rPr lang="en-AU" dirty="0"/>
                <a:t>Compression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C1B9FC67-A26B-109C-BE00-335BB8A08F35}"/>
                </a:ext>
              </a:extLst>
            </p:cNvPr>
            <p:cNvSpPr txBox="1"/>
            <p:nvPr/>
          </p:nvSpPr>
          <p:spPr>
            <a:xfrm>
              <a:off x="820521" y="2320974"/>
              <a:ext cx="15264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AU" dirty="0"/>
                <a:t>Trait</a:t>
              </a:r>
            </a:p>
            <a:p>
              <a:pPr algn="ctr"/>
              <a:r>
                <a:rPr lang="en-AU" dirty="0"/>
                <a:t>Compression</a:t>
              </a:r>
            </a:p>
          </p:txBody>
        </p:sp>
        <p:sp>
          <p:nvSpPr>
            <p:cNvPr id="95" name="Left Brace 94">
              <a:extLst>
                <a:ext uri="{FF2B5EF4-FFF2-40B4-BE49-F238E27FC236}">
                  <a16:creationId xmlns:a16="http://schemas.microsoft.com/office/drawing/2014/main" id="{9A411ADE-CFEC-8270-112D-5CEF7EA573A1}"/>
                </a:ext>
              </a:extLst>
            </p:cNvPr>
            <p:cNvSpPr/>
            <p:nvPr/>
          </p:nvSpPr>
          <p:spPr>
            <a:xfrm flipH="1">
              <a:off x="9579688" y="4277362"/>
              <a:ext cx="267297" cy="1620519"/>
            </a:xfrm>
            <a:prstGeom prst="leftBrace">
              <a:avLst>
                <a:gd name="adj1" fmla="val 8333"/>
                <a:gd name="adj2" fmla="val 4665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414048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4340862-C7EB-BA42-F4A3-125F004B4407}"/>
              </a:ext>
            </a:extLst>
          </p:cNvPr>
          <p:cNvSpPr/>
          <p:nvPr/>
        </p:nvSpPr>
        <p:spPr>
          <a:xfrm>
            <a:off x="5196000" y="584200"/>
            <a:ext cx="1800000" cy="6299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Vulnerability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3025B5B-A0D3-E5D6-7545-E25C893947A1}"/>
              </a:ext>
            </a:extLst>
          </p:cNvPr>
          <p:cNvSpPr/>
          <p:nvPr/>
        </p:nvSpPr>
        <p:spPr>
          <a:xfrm>
            <a:off x="3072560" y="1600200"/>
            <a:ext cx="1800000" cy="6299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Exposure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1816BC-9B30-F0B2-6CC3-5B141594A08E}"/>
              </a:ext>
            </a:extLst>
          </p:cNvPr>
          <p:cNvSpPr/>
          <p:nvPr/>
        </p:nvSpPr>
        <p:spPr>
          <a:xfrm>
            <a:off x="5196000" y="1600200"/>
            <a:ext cx="1800000" cy="6299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Sensitivity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472BA4-4CB8-4750-2D7C-20F4F3D8FF90}"/>
              </a:ext>
            </a:extLst>
          </p:cNvPr>
          <p:cNvSpPr/>
          <p:nvPr/>
        </p:nvSpPr>
        <p:spPr>
          <a:xfrm>
            <a:off x="7319440" y="1595120"/>
            <a:ext cx="1800000" cy="6299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Cumulative pressure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BF90CD-EE4D-52EA-3879-87B819CD7DD8}"/>
              </a:ext>
            </a:extLst>
          </p:cNvPr>
          <p:cNvSpPr/>
          <p:nvPr/>
        </p:nvSpPr>
        <p:spPr>
          <a:xfrm>
            <a:off x="3072560" y="2484120"/>
            <a:ext cx="1800000" cy="45212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Habitat Loss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4ED6EC-B494-F229-6F6E-B7C543F89610}"/>
              </a:ext>
            </a:extLst>
          </p:cNvPr>
          <p:cNvSpPr/>
          <p:nvPr/>
        </p:nvSpPr>
        <p:spPr>
          <a:xfrm>
            <a:off x="3072560" y="3121659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Invasive Predators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E35DCF-3473-966C-3C4D-C2CB3A7BBF43}"/>
              </a:ext>
            </a:extLst>
          </p:cNvPr>
          <p:cNvSpPr/>
          <p:nvPr/>
        </p:nvSpPr>
        <p:spPr>
          <a:xfrm>
            <a:off x="3072560" y="3944619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Invasive Herbivores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B7B9AC4-E24D-1E3A-997B-5D7828F8865E}"/>
              </a:ext>
            </a:extLst>
          </p:cNvPr>
          <p:cNvSpPr/>
          <p:nvPr/>
        </p:nvSpPr>
        <p:spPr>
          <a:xfrm>
            <a:off x="3072560" y="4767579"/>
            <a:ext cx="1800000" cy="4089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Fragmentation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13BF1E8-133A-83EE-8C5E-86D6E6EBCA8A}"/>
              </a:ext>
            </a:extLst>
          </p:cNvPr>
          <p:cNvSpPr/>
          <p:nvPr/>
        </p:nvSpPr>
        <p:spPr>
          <a:xfrm>
            <a:off x="3072560" y="5361939"/>
            <a:ext cx="1800000" cy="4089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Collision Solar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B5D24BE-C4FB-D1AE-2E22-E963BE850EF6}"/>
              </a:ext>
            </a:extLst>
          </p:cNvPr>
          <p:cNvSpPr/>
          <p:nvPr/>
        </p:nvSpPr>
        <p:spPr>
          <a:xfrm>
            <a:off x="3072560" y="5956299"/>
            <a:ext cx="1800000" cy="4089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Collision Wind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60065DA-C016-3DD3-3D52-B358A44A3DF8}"/>
              </a:ext>
            </a:extLst>
          </p:cNvPr>
          <p:cNvSpPr/>
          <p:nvPr/>
        </p:nvSpPr>
        <p:spPr>
          <a:xfrm>
            <a:off x="5196000" y="2484118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Climate Specialisation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AFEB86-71B2-5147-1BE9-6BE58F2F1CF5}"/>
              </a:ext>
            </a:extLst>
          </p:cNvPr>
          <p:cNvSpPr/>
          <p:nvPr/>
        </p:nvSpPr>
        <p:spPr>
          <a:xfrm>
            <a:off x="5196000" y="3307078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Habitat Specialisation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E3EE268-15F5-F349-AB23-98D5A6F02892}"/>
              </a:ext>
            </a:extLst>
          </p:cNvPr>
          <p:cNvSpPr/>
          <p:nvPr/>
        </p:nvSpPr>
        <p:spPr>
          <a:xfrm>
            <a:off x="5196000" y="4086857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Diet Specialisation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4513D2C-EB78-ECB5-EDC2-B3D5928E5BDD}"/>
              </a:ext>
            </a:extLst>
          </p:cNvPr>
          <p:cNvSpPr/>
          <p:nvPr/>
        </p:nvSpPr>
        <p:spPr>
          <a:xfrm>
            <a:off x="5196000" y="4857750"/>
            <a:ext cx="1800000" cy="40894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Adaptability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8B3E73A-0301-5CA1-BD09-74009771A42C}"/>
              </a:ext>
            </a:extLst>
          </p:cNvPr>
          <p:cNvSpPr/>
          <p:nvPr/>
        </p:nvSpPr>
        <p:spPr>
          <a:xfrm>
            <a:off x="5196000" y="5400044"/>
            <a:ext cx="1800000" cy="40894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Constraints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106139F-E136-5478-F54B-F1D660F2E7C7}"/>
              </a:ext>
            </a:extLst>
          </p:cNvPr>
          <p:cNvSpPr/>
          <p:nvPr/>
        </p:nvSpPr>
        <p:spPr>
          <a:xfrm>
            <a:off x="7319440" y="2484119"/>
            <a:ext cx="1800000" cy="45212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Threats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80530AD-4164-52CB-4CAD-C99C5B4BBAF6}"/>
              </a:ext>
            </a:extLst>
          </p:cNvPr>
          <p:cNvSpPr/>
          <p:nvPr/>
        </p:nvSpPr>
        <p:spPr>
          <a:xfrm>
            <a:off x="7319440" y="3121659"/>
            <a:ext cx="1800000" cy="45212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Trend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8E0F3C2-CAA7-F15D-C4DC-DA7ABD619158}"/>
              </a:ext>
            </a:extLst>
          </p:cNvPr>
          <p:cNvSpPr/>
          <p:nvPr/>
        </p:nvSpPr>
        <p:spPr>
          <a:xfrm>
            <a:off x="7319440" y="3759199"/>
            <a:ext cx="1800000" cy="45212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Status</a:t>
            </a:r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1AAEC20-AC8F-98BF-B907-B3813E221D18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4841240" y="345440"/>
            <a:ext cx="386080" cy="2123440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03A29527-41C7-19E8-122D-3A770A4B96ED}"/>
              </a:ext>
            </a:extLst>
          </p:cNvPr>
          <p:cNvCxnSpPr>
            <a:stCxn id="2" idx="2"/>
            <a:endCxn id="5" idx="0"/>
          </p:cNvCxnSpPr>
          <p:nvPr/>
        </p:nvCxnSpPr>
        <p:spPr>
          <a:xfrm rot="16200000" flipH="1">
            <a:off x="6967220" y="342900"/>
            <a:ext cx="381000" cy="2123440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6BD2DE7-1FA7-3923-7909-E8E0293EAAB8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096000" y="1214120"/>
            <a:ext cx="0" cy="3860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675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1CCEA7E3-4A95-AF3B-A0D9-FFC8E4FD6B76}"/>
              </a:ext>
            </a:extLst>
          </p:cNvPr>
          <p:cNvSpPr/>
          <p:nvPr/>
        </p:nvSpPr>
        <p:spPr>
          <a:xfrm>
            <a:off x="2444606" y="648925"/>
            <a:ext cx="5165561" cy="17302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B3AEB3-EF71-C9CC-BB9E-0D41170FA50A}"/>
              </a:ext>
            </a:extLst>
          </p:cNvPr>
          <p:cNvSpPr/>
          <p:nvPr/>
        </p:nvSpPr>
        <p:spPr>
          <a:xfrm>
            <a:off x="2444606" y="4320098"/>
            <a:ext cx="5165561" cy="188897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AAA6543-7DD0-A370-9CD7-70E1E9C97C15}"/>
              </a:ext>
            </a:extLst>
          </p:cNvPr>
          <p:cNvSpPr/>
          <p:nvPr/>
        </p:nvSpPr>
        <p:spPr>
          <a:xfrm>
            <a:off x="2444607" y="2449414"/>
            <a:ext cx="5165561" cy="180048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324AA58-3065-FA82-4E29-A55107A4300A}"/>
              </a:ext>
            </a:extLst>
          </p:cNvPr>
          <p:cNvGrpSpPr/>
          <p:nvPr/>
        </p:nvGrpSpPr>
        <p:grpSpPr>
          <a:xfrm>
            <a:off x="2823160" y="770332"/>
            <a:ext cx="1865670" cy="1499418"/>
            <a:chOff x="1622323" y="2413821"/>
            <a:chExt cx="1865670" cy="149941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574B72-94F3-9151-5E04-42546EC49626}"/>
                </a:ext>
              </a:extLst>
            </p:cNvPr>
            <p:cNvSpPr/>
            <p:nvPr/>
          </p:nvSpPr>
          <p:spPr>
            <a:xfrm>
              <a:off x="1622323" y="2413821"/>
              <a:ext cx="1865670" cy="1499418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Tx/>
                <a:buChar char="-"/>
              </a:pPr>
              <a:endParaRPr lang="en-AU" sz="1200" dirty="0"/>
            </a:p>
            <a:p>
              <a:pPr marL="285750" indent="-285750">
                <a:buFontTx/>
                <a:buChar char="-"/>
              </a:pPr>
              <a:endParaRPr lang="en-AU" sz="1200" dirty="0"/>
            </a:p>
            <a:p>
              <a:pPr marL="285750" indent="-285750">
                <a:buFontTx/>
                <a:buChar char="-"/>
              </a:pPr>
              <a:r>
                <a:rPr lang="en-AU" sz="1200" dirty="0"/>
                <a:t>Habitat loss</a:t>
              </a:r>
            </a:p>
            <a:p>
              <a:pPr marL="285750" indent="-285750">
                <a:buFontTx/>
                <a:buChar char="-"/>
              </a:pPr>
              <a:r>
                <a:rPr lang="en-AU" sz="1200" dirty="0"/>
                <a:t>Invasive species</a:t>
              </a:r>
            </a:p>
            <a:p>
              <a:pPr marL="285750" indent="-285750">
                <a:buFontTx/>
                <a:buChar char="-"/>
              </a:pPr>
              <a:r>
                <a:rPr lang="en-AU" sz="1200" dirty="0"/>
                <a:t>Fragmentation</a:t>
              </a:r>
            </a:p>
            <a:p>
              <a:pPr marL="285750" indent="-285750">
                <a:buFontTx/>
                <a:buChar char="-"/>
              </a:pPr>
              <a:r>
                <a:rPr lang="en-AU" sz="1200" dirty="0"/>
                <a:t>Collision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C743DFA-D11C-B4B2-73D0-199960C3092A}"/>
                </a:ext>
              </a:extLst>
            </p:cNvPr>
            <p:cNvSpPr/>
            <p:nvPr/>
          </p:nvSpPr>
          <p:spPr>
            <a:xfrm>
              <a:off x="1730476" y="2546557"/>
              <a:ext cx="1681317" cy="285134"/>
            </a:xfrm>
            <a:prstGeom prst="rect">
              <a:avLst/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AU" sz="1200" dirty="0"/>
                <a:t>Stressors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4C0CBF2-AFD6-B356-6E66-C69ADBEAD916}"/>
              </a:ext>
            </a:extLst>
          </p:cNvPr>
          <p:cNvGrpSpPr/>
          <p:nvPr/>
        </p:nvGrpSpPr>
        <p:grpSpPr>
          <a:xfrm>
            <a:off x="5417577" y="772672"/>
            <a:ext cx="1865670" cy="1499418"/>
            <a:chOff x="1622323" y="2413821"/>
            <a:chExt cx="1865670" cy="149941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38CA9BA-3998-AED0-66D7-F89A99125D8F}"/>
                </a:ext>
              </a:extLst>
            </p:cNvPr>
            <p:cNvSpPr/>
            <p:nvPr/>
          </p:nvSpPr>
          <p:spPr>
            <a:xfrm>
              <a:off x="1622323" y="2413821"/>
              <a:ext cx="1865670" cy="1499418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Tx/>
                <a:buChar char="-"/>
              </a:pPr>
              <a:endParaRPr lang="en-AU" sz="1200" dirty="0"/>
            </a:p>
            <a:p>
              <a:pPr marL="285750" indent="-285750">
                <a:buFontTx/>
                <a:buChar char="-"/>
              </a:pPr>
              <a:endParaRPr lang="en-AU" sz="1200" dirty="0"/>
            </a:p>
            <a:p>
              <a:pPr marL="285750" indent="-285750">
                <a:buFontTx/>
                <a:buChar char="-"/>
              </a:pPr>
              <a:r>
                <a:rPr lang="en-AU" sz="1200" dirty="0"/>
                <a:t>Growth form</a:t>
              </a:r>
            </a:p>
            <a:p>
              <a:pPr marL="285750" indent="-285750">
                <a:buFontTx/>
                <a:buChar char="-"/>
              </a:pPr>
              <a:r>
                <a:rPr lang="en-AU" sz="1200" dirty="0"/>
                <a:t>Breeding habitat</a:t>
              </a:r>
            </a:p>
            <a:p>
              <a:pPr marL="285750" indent="-285750">
                <a:buFontTx/>
                <a:buChar char="-"/>
              </a:pPr>
              <a:r>
                <a:rPr lang="en-AU" sz="1200" dirty="0"/>
                <a:t>Hand-wing index</a:t>
              </a:r>
            </a:p>
            <a:p>
              <a:pPr marL="285750" indent="-285750">
                <a:buFontTx/>
                <a:buChar char="-"/>
              </a:pPr>
              <a:r>
                <a:rPr lang="en-AU" sz="1200" dirty="0"/>
                <a:t>Foraging strategy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28A8D8D-E493-73D1-EA50-1D0EB6E52321}"/>
                </a:ext>
              </a:extLst>
            </p:cNvPr>
            <p:cNvSpPr/>
            <p:nvPr/>
          </p:nvSpPr>
          <p:spPr>
            <a:xfrm>
              <a:off x="1730476" y="2546557"/>
              <a:ext cx="1681317" cy="285134"/>
            </a:xfrm>
            <a:prstGeom prst="rect">
              <a:avLst/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AU" sz="1200" dirty="0"/>
                <a:t>Traits</a:t>
              </a:r>
            </a:p>
          </p:txBody>
        </p:sp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4EA1251-A59F-BFE1-5880-3E11509FB1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494354"/>
              </p:ext>
            </p:extLst>
          </p:nvPr>
        </p:nvGraphicFramePr>
        <p:xfrm>
          <a:off x="5634900" y="2762922"/>
          <a:ext cx="1584000" cy="142458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62962">
                  <a:extLst>
                    <a:ext uri="{9D8B030D-6E8A-4147-A177-3AD203B41FA5}">
                      <a16:colId xmlns:a16="http://schemas.microsoft.com/office/drawing/2014/main" val="3371057381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1907105386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2752765291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2927904193"/>
                    </a:ext>
                  </a:extLst>
                </a:gridCol>
              </a:tblGrid>
              <a:tr h="296854">
                <a:tc>
                  <a:txBody>
                    <a:bodyPr/>
                    <a:lstStyle/>
                    <a:p>
                      <a:pPr algn="ctr"/>
                      <a:endParaRPr lang="en-A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072949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00494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9765604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5989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E86C549-F0FD-4C99-0970-C2C3747950C0}"/>
              </a:ext>
            </a:extLst>
          </p:cNvPr>
          <p:cNvSpPr txBox="1"/>
          <p:nvPr/>
        </p:nvSpPr>
        <p:spPr>
          <a:xfrm>
            <a:off x="5922889" y="2455143"/>
            <a:ext cx="785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400" dirty="0"/>
              <a:t>species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934E4-FF69-7664-9B84-B5246EC3847F}"/>
              </a:ext>
            </a:extLst>
          </p:cNvPr>
          <p:cNvSpPr txBox="1"/>
          <p:nvPr/>
        </p:nvSpPr>
        <p:spPr>
          <a:xfrm>
            <a:off x="5108875" y="3218632"/>
            <a:ext cx="493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400" dirty="0"/>
              <a:t>trait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302DB75-BD70-FACC-166E-C57898F3F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273876"/>
              </p:ext>
            </p:extLst>
          </p:nvPr>
        </p:nvGraphicFramePr>
        <p:xfrm>
          <a:off x="2993054" y="2762922"/>
          <a:ext cx="1584000" cy="142458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2962">
                  <a:extLst>
                    <a:ext uri="{9D8B030D-6E8A-4147-A177-3AD203B41FA5}">
                      <a16:colId xmlns:a16="http://schemas.microsoft.com/office/drawing/2014/main" val="3371057381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1907105386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2752765291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2927904193"/>
                    </a:ext>
                  </a:extLst>
                </a:gridCol>
              </a:tblGrid>
              <a:tr h="296854">
                <a:tc>
                  <a:txBody>
                    <a:bodyPr/>
                    <a:lstStyle/>
                    <a:p>
                      <a:pPr algn="ctr"/>
                      <a:endParaRPr lang="en-AU" sz="1400" dirty="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072949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00494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9765604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598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C0E797D-BB61-C852-5D15-60C891AE0978}"/>
              </a:ext>
            </a:extLst>
          </p:cNvPr>
          <p:cNvSpPr txBox="1"/>
          <p:nvPr/>
        </p:nvSpPr>
        <p:spPr>
          <a:xfrm>
            <a:off x="3281043" y="2455143"/>
            <a:ext cx="811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400" dirty="0"/>
              <a:t>stressor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0CFB38-1FA8-C474-F925-3C5817861585}"/>
              </a:ext>
            </a:extLst>
          </p:cNvPr>
          <p:cNvSpPr txBox="1"/>
          <p:nvPr/>
        </p:nvSpPr>
        <p:spPr>
          <a:xfrm>
            <a:off x="2467029" y="3218632"/>
            <a:ext cx="493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400" dirty="0"/>
              <a:t>trait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859AEA-8903-1F2B-7A45-D96E2212D970}"/>
              </a:ext>
            </a:extLst>
          </p:cNvPr>
          <p:cNvSpPr txBox="1"/>
          <p:nvPr/>
        </p:nvSpPr>
        <p:spPr>
          <a:xfrm>
            <a:off x="4688830" y="3213603"/>
            <a:ext cx="3770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800" dirty="0"/>
              <a:t>×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5FB94FC-652E-DEF4-F084-C0E18281A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6747757"/>
              </p:ext>
            </p:extLst>
          </p:nvPr>
        </p:nvGraphicFramePr>
        <p:xfrm>
          <a:off x="4338889" y="4646322"/>
          <a:ext cx="1584000" cy="14245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62">
                  <a:extLst>
                    <a:ext uri="{9D8B030D-6E8A-4147-A177-3AD203B41FA5}">
                      <a16:colId xmlns:a16="http://schemas.microsoft.com/office/drawing/2014/main" val="3371057381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1907105386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2752765291"/>
                    </a:ext>
                  </a:extLst>
                </a:gridCol>
                <a:gridCol w="440346">
                  <a:extLst>
                    <a:ext uri="{9D8B030D-6E8A-4147-A177-3AD203B41FA5}">
                      <a16:colId xmlns:a16="http://schemas.microsoft.com/office/drawing/2014/main" val="2927904193"/>
                    </a:ext>
                  </a:extLst>
                </a:gridCol>
              </a:tblGrid>
              <a:tr h="296854">
                <a:tc>
                  <a:txBody>
                    <a:bodyPr/>
                    <a:lstStyle/>
                    <a:p>
                      <a:pPr algn="ctr"/>
                      <a:endParaRPr lang="en-A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072949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00494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9765604"/>
                  </a:ext>
                </a:extLst>
              </a:tr>
              <a:tr h="373261">
                <a:tc>
                  <a:txBody>
                    <a:bodyPr/>
                    <a:lstStyle/>
                    <a:p>
                      <a:pPr algn="ctr"/>
                      <a:r>
                        <a:rPr lang="en-AU" sz="14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400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5989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4A64C07-BBF0-D3AE-FA47-8E451BBFB9AE}"/>
              </a:ext>
            </a:extLst>
          </p:cNvPr>
          <p:cNvSpPr txBox="1"/>
          <p:nvPr/>
        </p:nvSpPr>
        <p:spPr>
          <a:xfrm>
            <a:off x="4542095" y="4338545"/>
            <a:ext cx="811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400" dirty="0"/>
              <a:t>stressor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7436D3-8DCC-5EAE-1F82-60C7873DBD50}"/>
              </a:ext>
            </a:extLst>
          </p:cNvPr>
          <p:cNvSpPr txBox="1"/>
          <p:nvPr/>
        </p:nvSpPr>
        <p:spPr>
          <a:xfrm>
            <a:off x="3553096" y="5222992"/>
            <a:ext cx="785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400" dirty="0"/>
              <a:t>species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1FA676F-B2A6-8350-4AB3-5CC680E711D9}"/>
              </a:ext>
            </a:extLst>
          </p:cNvPr>
          <p:cNvGrpSpPr/>
          <p:nvPr/>
        </p:nvGrpSpPr>
        <p:grpSpPr>
          <a:xfrm rot="16200000" flipH="1">
            <a:off x="-742793" y="3313108"/>
            <a:ext cx="5851580" cy="523220"/>
            <a:chOff x="2034676" y="4097934"/>
            <a:chExt cx="6084092" cy="523220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96EF09D-BEF5-0D44-75E6-24E29AC4E3D1}"/>
                </a:ext>
              </a:extLst>
            </p:cNvPr>
            <p:cNvSpPr/>
            <p:nvPr/>
          </p:nvSpPr>
          <p:spPr>
            <a:xfrm>
              <a:off x="2034676" y="4097934"/>
              <a:ext cx="2340035" cy="523220"/>
            </a:xfrm>
            <a:custGeom>
              <a:avLst/>
              <a:gdLst>
                <a:gd name="connsiteX0" fmla="*/ 0 w 2340035"/>
                <a:gd name="connsiteY0" fmla="*/ 0 h 523220"/>
                <a:gd name="connsiteX1" fmla="*/ 2078425 w 2340035"/>
                <a:gd name="connsiteY1" fmla="*/ 0 h 523220"/>
                <a:gd name="connsiteX2" fmla="*/ 2340035 w 2340035"/>
                <a:gd name="connsiteY2" fmla="*/ 261610 h 523220"/>
                <a:gd name="connsiteX3" fmla="*/ 2078425 w 2340035"/>
                <a:gd name="connsiteY3" fmla="*/ 523220 h 523220"/>
                <a:gd name="connsiteX4" fmla="*/ 0 w 2340035"/>
                <a:gd name="connsiteY4" fmla="*/ 523220 h 523220"/>
                <a:gd name="connsiteX5" fmla="*/ 0 w 2340035"/>
                <a:gd name="connsiteY5" fmla="*/ 0 h 523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40035" h="523220">
                  <a:moveTo>
                    <a:pt x="0" y="0"/>
                  </a:moveTo>
                  <a:lnTo>
                    <a:pt x="2078425" y="0"/>
                  </a:lnTo>
                  <a:lnTo>
                    <a:pt x="2340035" y="261610"/>
                  </a:lnTo>
                  <a:lnTo>
                    <a:pt x="2078425" y="523220"/>
                  </a:lnTo>
                  <a:lnTo>
                    <a:pt x="0" y="5232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6012" tIns="48006" rIns="154808" bIns="48006" numCol="1" spcCol="1270" anchor="ctr" anchorCtr="0">
              <a:noAutofit/>
            </a:bodyPr>
            <a:lstStyle/>
            <a:p>
              <a:pPr marL="0" lvl="0" indent="0" algn="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1800" kern="1200" dirty="0"/>
                <a:t>Traits framework</a:t>
              </a: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56256DE-9C1B-03D5-D897-C8055F486794}"/>
                </a:ext>
              </a:extLst>
            </p:cNvPr>
            <p:cNvSpPr/>
            <p:nvPr/>
          </p:nvSpPr>
          <p:spPr>
            <a:xfrm>
              <a:off x="3906704" y="4097934"/>
              <a:ext cx="2340035" cy="523220"/>
            </a:xfrm>
            <a:custGeom>
              <a:avLst/>
              <a:gdLst>
                <a:gd name="connsiteX0" fmla="*/ 0 w 2340035"/>
                <a:gd name="connsiteY0" fmla="*/ 0 h 523220"/>
                <a:gd name="connsiteX1" fmla="*/ 2078425 w 2340035"/>
                <a:gd name="connsiteY1" fmla="*/ 0 h 523220"/>
                <a:gd name="connsiteX2" fmla="*/ 2340035 w 2340035"/>
                <a:gd name="connsiteY2" fmla="*/ 261610 h 523220"/>
                <a:gd name="connsiteX3" fmla="*/ 2078425 w 2340035"/>
                <a:gd name="connsiteY3" fmla="*/ 523220 h 523220"/>
                <a:gd name="connsiteX4" fmla="*/ 0 w 2340035"/>
                <a:gd name="connsiteY4" fmla="*/ 523220 h 523220"/>
                <a:gd name="connsiteX5" fmla="*/ 261610 w 2340035"/>
                <a:gd name="connsiteY5" fmla="*/ 261610 h 523220"/>
                <a:gd name="connsiteX6" fmla="*/ 0 w 2340035"/>
                <a:gd name="connsiteY6" fmla="*/ 0 h 523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40035" h="523220">
                  <a:moveTo>
                    <a:pt x="0" y="0"/>
                  </a:moveTo>
                  <a:lnTo>
                    <a:pt x="2078425" y="0"/>
                  </a:lnTo>
                  <a:lnTo>
                    <a:pt x="2340035" y="261610"/>
                  </a:lnTo>
                  <a:lnTo>
                    <a:pt x="2078425" y="523220"/>
                  </a:lnTo>
                  <a:lnTo>
                    <a:pt x="0" y="523220"/>
                  </a:lnTo>
                  <a:lnTo>
                    <a:pt x="261610" y="26161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33619" tIns="48006" rIns="285613" bIns="48006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1800" kern="1200" dirty="0"/>
                <a:t>Matrices</a:t>
              </a: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4B23CDBD-8152-81C3-8704-CF69FDC6FD3B}"/>
                </a:ext>
              </a:extLst>
            </p:cNvPr>
            <p:cNvSpPr/>
            <p:nvPr/>
          </p:nvSpPr>
          <p:spPr>
            <a:xfrm>
              <a:off x="5778733" y="4097934"/>
              <a:ext cx="2340035" cy="523220"/>
            </a:xfrm>
            <a:custGeom>
              <a:avLst/>
              <a:gdLst>
                <a:gd name="connsiteX0" fmla="*/ 0 w 2340035"/>
                <a:gd name="connsiteY0" fmla="*/ 0 h 523220"/>
                <a:gd name="connsiteX1" fmla="*/ 2078425 w 2340035"/>
                <a:gd name="connsiteY1" fmla="*/ 0 h 523220"/>
                <a:gd name="connsiteX2" fmla="*/ 2340035 w 2340035"/>
                <a:gd name="connsiteY2" fmla="*/ 261610 h 523220"/>
                <a:gd name="connsiteX3" fmla="*/ 2078425 w 2340035"/>
                <a:gd name="connsiteY3" fmla="*/ 523220 h 523220"/>
                <a:gd name="connsiteX4" fmla="*/ 0 w 2340035"/>
                <a:gd name="connsiteY4" fmla="*/ 523220 h 523220"/>
                <a:gd name="connsiteX5" fmla="*/ 261610 w 2340035"/>
                <a:gd name="connsiteY5" fmla="*/ 261610 h 523220"/>
                <a:gd name="connsiteX6" fmla="*/ 0 w 2340035"/>
                <a:gd name="connsiteY6" fmla="*/ 0 h 523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40035" h="523220">
                  <a:moveTo>
                    <a:pt x="0" y="0"/>
                  </a:moveTo>
                  <a:lnTo>
                    <a:pt x="2078425" y="0"/>
                  </a:lnTo>
                  <a:lnTo>
                    <a:pt x="2340035" y="261610"/>
                  </a:lnTo>
                  <a:lnTo>
                    <a:pt x="2078425" y="523220"/>
                  </a:lnTo>
                  <a:lnTo>
                    <a:pt x="0" y="523220"/>
                  </a:lnTo>
                  <a:lnTo>
                    <a:pt x="261610" y="26161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33619" tIns="48006" rIns="285613" bIns="48006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1800" kern="1200" dirty="0"/>
                <a:t>Exposure score</a:t>
              </a:r>
            </a:p>
          </p:txBody>
        </p:sp>
      </p:grpSp>
      <p:sp>
        <p:nvSpPr>
          <p:cNvPr id="41" name="Arrow: Circular 40">
            <a:extLst>
              <a:ext uri="{FF2B5EF4-FFF2-40B4-BE49-F238E27FC236}">
                <a16:creationId xmlns:a16="http://schemas.microsoft.com/office/drawing/2014/main" id="{41241DAF-A5ED-8DFC-2318-5A84D043F507}"/>
              </a:ext>
            </a:extLst>
          </p:cNvPr>
          <p:cNvSpPr/>
          <p:nvPr/>
        </p:nvSpPr>
        <p:spPr>
          <a:xfrm rot="6187903">
            <a:off x="5627192" y="3824637"/>
            <a:ext cx="1292999" cy="1252880"/>
          </a:xfrm>
          <a:prstGeom prst="circularArrow">
            <a:avLst>
              <a:gd name="adj1" fmla="val 6314"/>
              <a:gd name="adj2" fmla="val 904143"/>
              <a:gd name="adj3" fmla="val 20895230"/>
              <a:gd name="adj4" fmla="val 13977503"/>
              <a:gd name="adj5" fmla="val 1128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3B4C48-620B-013B-C6B0-008D04CD49E2}"/>
              </a:ext>
            </a:extLst>
          </p:cNvPr>
          <p:cNvSpPr txBox="1"/>
          <p:nvPr/>
        </p:nvSpPr>
        <p:spPr>
          <a:xfrm>
            <a:off x="6269113" y="4941419"/>
            <a:ext cx="11636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500" dirty="0"/>
              <a:t>Aggregation</a:t>
            </a:r>
          </a:p>
        </p:txBody>
      </p:sp>
    </p:spTree>
    <p:extLst>
      <p:ext uri="{BB962C8B-B14F-4D97-AF65-F5344CB8AC3E}">
        <p14:creationId xmlns:p14="http://schemas.microsoft.com/office/powerpoint/2010/main" val="2277914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7274858-3b1d-4431-8679-d878f40e28fd}" enabled="1" method="Privileged" siteId="{bda528f7-fca9-432f-bc98-bd7e90d40906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148</Words>
  <Application>Microsoft Office PowerPoint</Application>
  <PresentationFormat>Widescreen</PresentationFormat>
  <Paragraphs>114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Chang, Eryn (DEW)</dc:creator>
  <cp:lastModifiedBy>Chang, Eryn (DEW)</cp:lastModifiedBy>
  <cp:revision>8</cp:revision>
  <dcterms:created xsi:type="dcterms:W3CDTF">2026-03-19T08:46:31Z</dcterms:created>
  <dcterms:modified xsi:type="dcterms:W3CDTF">2026-04-07T09:14:10Z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OFFICIAL</vt:lpwstr>
  </property>
</Properties>
</file>